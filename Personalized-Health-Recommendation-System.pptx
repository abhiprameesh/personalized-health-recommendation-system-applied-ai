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unces"/>
      <p:regular r:id="rId201314"/>
    </p:embeddedFont>
    <p:embeddedFont>
      <p:font typeface="Fraunces Bold"/>
      <p:regular r:id="rId201315"/>
    </p:embeddedFont>
    <p:embeddedFont>
      <p:font typeface="Fraunces ExtraBold"/>
      <p:regular r:id="rId201316"/>
    </p:embeddedFont>
    <p:embeddedFont>
      <p:font typeface="Fraunces Black"/>
      <p:regular r:id="rId201317"/>
    </p:embeddedFont>
    <p:embeddedFont>
      <p:font typeface="Nobile"/>
      <p:regular r:id="rId201318"/>
    </p:embeddedFont>
    <p:embeddedFont>
      <p:font typeface="Nobil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.png"/><Relationship Id="rId12" Type="http://schemas.openxmlformats.org/officeDocument/2006/relationships/image" Target="../media/image-4-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6130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Personalized Health Recommendation System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60849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AI-Based Design for Preventive Wellness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3967361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Case Study 19 — Applied AI (22AI741) 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Author: Abhinand Prameesh · USN: 1DS23AI002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8913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Problem statement — Why generic recommendations fail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47064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5295371" y="250165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770716" y="2527498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Generic approach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70716" y="2885182"/>
            <a:ext cx="5759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Everyone receives the same exercise and nutrition advice — low relevance, low adherence.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374511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5295371" y="377611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770716" y="3801963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Personalized approach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70716" y="4159647"/>
            <a:ext cx="5759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Recommendations adapt to goals, preferences and activity patterns — higher relevance and safer guidance.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4874915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Users differ by fitness goals, lifestyle, food preferences, activity levels and available time — a one-size-fits-all model reduces effectiveness and engagement.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14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inputs — three categories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0883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control consent and sharing. Each category is explicit, segmented, and minimised to what's necessary.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59484"/>
            <a:ext cx="766644" cy="766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4786" y="2859484"/>
            <a:ext cx="25117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preferences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34786" y="3217168"/>
            <a:ext cx="2511759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Fitness goals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Food &amp; exercise preferences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Available time, lifestyle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213" y="2859484"/>
            <a:ext cx="766644" cy="766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26525" y="2859484"/>
            <a:ext cx="25118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Activity data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326525" y="3217168"/>
            <a:ext cx="2511858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Daily steps, workout history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Exercise duration, sleep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Heart rate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050" y="2859484"/>
            <a:ext cx="766644" cy="766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8362" y="2859484"/>
            <a:ext cx="25118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Health information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018362" y="3217168"/>
            <a:ext cx="2511858" cy="85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Height, weight, BMI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Allergies, self-reported conditions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1475" y="4635202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DDEEE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4874915"/>
            <a:ext cx="206667" cy="1652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98731" y="4841776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Important: Users explicitly control what they share via consent and privacy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6370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system architecture — design overview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09080"/>
            <a:ext cx="3535472" cy="1509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40859" y="1319510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27761" y="1798141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7761" y="2107009"/>
            <a:ext cx="32029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Profile, preferences, activity (consented)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8111" y="1209080"/>
            <a:ext cx="3535472" cy="15099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7495" y="1319510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494398" y="1798141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CONSENT &amp; PRIVACY LAYER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494398" y="2107009"/>
            <a:ext cx="32029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Granular opt-in, data minimization, anonymization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4748" y="1209080"/>
            <a:ext cx="3535472" cy="15099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4132" y="1319510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161034" y="1798141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161034" y="2107009"/>
            <a:ext cx="32029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Normalization, feature extraction, secure storage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850158"/>
            <a:ext cx="3535472" cy="15099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340859" y="2960588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7761" y="3439220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 RECOMMENDATION ENGINE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27761" y="3748088"/>
            <a:ext cx="32029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Exercise · Nutrition · Preventive-wellness (specialized agents)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8111" y="2850158"/>
            <a:ext cx="3535472" cy="150991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07495" y="2960588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4494398" y="3439220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RAG / KNOWLEDGE GROUNDING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494398" y="3748088"/>
            <a:ext cx="320290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Retrieve trusted guidelines to ground suggestions</a:t>
            </a:r>
            <a:endParaRPr lang="en-US" sz="11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94748" y="2850158"/>
            <a:ext cx="3535472" cy="150991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674132" y="2960588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8161034" y="3439220"/>
            <a:ext cx="320290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SAFETY &amp; VALIDATION LAYER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8161034" y="3748088"/>
            <a:ext cx="320290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Rule checks, diagnostic-detection, escalation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491236"/>
            <a:ext cx="10868745" cy="128706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007495" y="4601666"/>
            <a:ext cx="17670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827761" y="5080298"/>
            <a:ext cx="1053617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PERSONALIZED OUTPUT → USER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827761" y="5389166"/>
            <a:ext cx="1053617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Explainability, confidence, next steps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61475" y="5925840"/>
            <a:ext cx="10868745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Inside the AI engine: three specialist components (Exercise, Nutrition, Preventive Wellness) optionally orchestrated via LangGraph/agent layer for modularity.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581"/>
            <a:ext cx="10868745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How the AI generates recommendations — 5-step pipeline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771253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60793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Validate &amp; Present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60793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Ground with RAG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60793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Generate Candidates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60793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Analyze Activity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60793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Build Profile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93693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Example flow: (User goal + activity + preferences) → candidate recommendation → guideline grounding → safety check → final personalised recommendation with confidence and explanation.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08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Personalization in action — two user examples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608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A — Age 21 (Low activity)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05398"/>
            <a:ext cx="744221" cy="744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2364" y="2705398"/>
            <a:ext cx="42817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12364" y="3129161"/>
            <a:ext cx="4281777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Start: 30-min brisk walking (5x/week)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Progression: add interval walks after 2 weeks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Vegetarian meal templates focused on protein &amp; iron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Sleep &amp; routine nudges for consistency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3904" y="22608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B — Age 45 (Moderate activity)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904" y="2705398"/>
            <a:ext cx="744221" cy="744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793" y="2705398"/>
            <a:ext cx="42817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254793" y="3129161"/>
            <a:ext cx="4281777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Moderate cycling routine (40–60 min, 3–4x/week)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Endurance progression plan with recovery days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Vegetarian nutrition emphasizing balanced macronutrients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activity with targeted strength micro-sessions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1475" y="52624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 outputs differ because the engine weights age, baseline activity, preferences and available time to produce safe, achievable plans.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53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Privacy &amp; user consent — responsible data handling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42766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442766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Explicit consent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2800449"/>
            <a:ext cx="47108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Clear prompts for each data type; reversible choices.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442766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19233" y="2442766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Encryption &amp; access control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19233" y="2800449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encryption in transit &amp; at rest; role-based access.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60378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1577" y="3660378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minimization &amp; deletion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1577" y="4018062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only required features; user-triggered deletion &amp; retention policies.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3660378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19233" y="3660378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Anonymization &amp; pseudonymization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819233" y="4018062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anonymized datasets for model improvement where permitted.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473333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Consent example: "Allow the application to access your activity data?" [Allow] [Deny] [Change later] — users can granularly control each permission.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658" y="2219325"/>
            <a:ext cx="4432189" cy="24193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459284"/>
            <a:ext cx="6296860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Preventing AI misinformation — detection &amp; mitigation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661475" y="1508026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661475" y="1726109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3"/>
          <p:cNvSpPr/>
          <p:nvPr/>
        </p:nvSpPr>
        <p:spPr>
          <a:xfrm>
            <a:off x="661475" y="1833959"/>
            <a:ext cx="62968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Ground outputs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61475" y="2122587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RAG retrieves authoritative guidelines to reduce unsupported claims.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1475" y="2550716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61475" y="2768798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1" name="Text 7"/>
          <p:cNvSpPr/>
          <p:nvPr/>
        </p:nvSpPr>
        <p:spPr>
          <a:xfrm>
            <a:off x="661475" y="2876649"/>
            <a:ext cx="62968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Apply safety rules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61475" y="3165277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 diagnostic language, medication instructions, or prescriptive claims.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1475" y="3593405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61475" y="3811488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5" name="Text 11"/>
          <p:cNvSpPr/>
          <p:nvPr/>
        </p:nvSpPr>
        <p:spPr>
          <a:xfrm>
            <a:off x="661475" y="3919339"/>
            <a:ext cx="62968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Reject / modify / escalate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61475" y="4207966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Unsafe or diagnostic content is blocked or routed to human review.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61475" y="4636095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61475" y="4854178"/>
            <a:ext cx="6296860" cy="1905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9" name="Text 15"/>
          <p:cNvSpPr/>
          <p:nvPr/>
        </p:nvSpPr>
        <p:spPr>
          <a:xfrm>
            <a:off x="661475" y="4962029"/>
            <a:ext cx="629686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Communicate uncertainty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61475" y="5250656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 confidence scores, citations and plain-language caveats.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61475" y="5693569"/>
            <a:ext cx="6296860" cy="705048"/>
          </a:xfrm>
          <a:prstGeom prst="roundRect">
            <a:avLst>
              <a:gd name="adj" fmla="val 17814"/>
            </a:avLst>
          </a:prstGeom>
          <a:solidFill>
            <a:srgbClr val="DDEEE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73" y="5863630"/>
            <a:ext cx="174422" cy="1395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4893" y="5846068"/>
            <a:ext cx="5703943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RAG reduces hallucination risk but does not eliminate it. Design for conservative failure modes and human escalation.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6" y="2226370"/>
            <a:ext cx="4406393" cy="24052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86161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Wellness vs medical advice — clear boundary &amp; escalation</a:t>
            </a:r>
            <a:endParaRPr lang="en-US" sz="3250" dirty="0"/>
          </a:p>
        </p:txBody>
      </p:sp>
      <p:sp>
        <p:nvSpPr>
          <p:cNvPr id="5" name="Text 1"/>
          <p:cNvSpPr/>
          <p:nvPr/>
        </p:nvSpPr>
        <p:spPr>
          <a:xfrm>
            <a:off x="5233360" y="2308423"/>
            <a:ext cx="294672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General wellness guidance (OK)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233360" y="2990652"/>
            <a:ext cx="2946723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Try increasing daily physical activity.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Consider more vegetables &amp; protein-rich foods.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consistent sleep to support wellbeing.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589847" y="2308423"/>
            <a:ext cx="294672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Medical advice (NOT PROVIDED)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589847" y="2990652"/>
            <a:ext cx="2946723" cy="1968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"You have diabetes." — Diagnostic claims are disallowed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"Take this medication." — Prescriptions are disallowed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"Stop your prescribed medication." — Never advise stopping treatment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233360" y="5202535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potentially concerning inputs the system shows a safety message and recommends consultation with qualified healthcare professionals; it may offer to share a summary for clinician review with user permission.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28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 &amp; proposed technology stack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30325"/>
            <a:ext cx="5351725" cy="2280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3317" y="144234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5819" y="2010767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Architecture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2368451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Data → Consent &amp; Privacy → AI Engine → RAG Grounding → Safety Validation → Personalised Recommendations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330325"/>
            <a:ext cx="5351725" cy="22809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0337" y="144234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362838" y="2010767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62838" y="2368451"/>
            <a:ext cx="498303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Frontend: React / Streamlit · Backend: Python + FastAPI · AI/ML: PyTorch, scikit-learn · Agents: LangChain / LangGraph · Vector store: ChromaDB / Pinecone · DB: PostgreSQL · Security: Encryption &amp; Auth       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1475" y="3797300"/>
            <a:ext cx="5351725" cy="1862435"/>
          </a:xfrm>
          <a:prstGeom prst="roundRect">
            <a:avLst>
              <a:gd name="adj" fmla="val 7992"/>
            </a:avLst>
          </a:prstGeom>
          <a:solidFill>
            <a:srgbClr val="E8F3E8"/>
          </a:solidFill>
          <a:ln/>
        </p:spPr>
      </p:sp>
      <p:sp>
        <p:nvSpPr>
          <p:cNvPr id="12" name="Text 8"/>
          <p:cNvSpPr/>
          <p:nvPr/>
        </p:nvSpPr>
        <p:spPr>
          <a:xfrm>
            <a:off x="826769" y="3962598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6769" y="4320282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Personalized AI should be useful, safe, transparent, and user‑controlled.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8495" y="3797300"/>
            <a:ext cx="5351725" cy="1862435"/>
          </a:xfrm>
          <a:prstGeom prst="roundRect">
            <a:avLst>
              <a:gd name="adj" fmla="val 7992"/>
            </a:avLst>
          </a:prstGeom>
          <a:solidFill>
            <a:srgbClr val="E8F3E8"/>
          </a:solidFill>
          <a:ln/>
        </p:spPr>
      </p:sp>
      <p:sp>
        <p:nvSpPr>
          <p:cNvPr id="15" name="Text 11"/>
          <p:cNvSpPr/>
          <p:nvPr/>
        </p:nvSpPr>
        <p:spPr>
          <a:xfrm>
            <a:off x="6343789" y="3962598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Main limitations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43789" y="4320282"/>
            <a:ext cx="5021137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Quality depends on user-provided data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recommendations can still err; conservative escalation necessary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 a clinical diagnostic system — does not replace clinicians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1475" y="584577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Next steps (design): prototype agent orchestration, define trusted guideline sources for RAG, build safety-rule set, and run user studies focused on consent UX and recommendation safety.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2026-09-02T17:09:40Z</dcterms:created>
  <dcterms:modified xsi:type="dcterms:W3CDTF">2026-09-02T17:09:40Z</dcterms:modified>
</cp:coreProperties>
</file>